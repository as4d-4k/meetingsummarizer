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63500" cy="20116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0F2FF"/>
                </a:solidFill>
                <a:latin typeface="Calibri"/>
              </a:defRPr>
            </a:pPr>
            <a:r>
              <a:t>MeetingIntel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743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0">
                <a:solidFill>
                  <a:srgbClr val="6C63FF"/>
                </a:solidFill>
                <a:latin typeface="Calibri"/>
              </a:defRPr>
            </a:pPr>
            <a:r>
              <a:t>Autonomous Multilingual Meeting Summarizer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8B92B8"/>
                </a:solidFill>
                <a:latin typeface="Calibri"/>
              </a:defRPr>
            </a:pPr>
            <a:r>
              <a:t>Real-time transcription, live speaker analysis, and intelligent action item extraction</a:t>
            </a:r>
            <a:br/>
            <a:r>
              <a:t>with native Urdu-English code-switching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120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05570"/>
                </a:solidFill>
                <a:latin typeface="Calibri"/>
              </a:defRPr>
            </a:pPr>
            <a:r>
              <a:t>Natural Language Processing — Final Project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5760720"/>
            <a:ext cx="1097280" cy="347472"/>
          </a:xfrm>
          <a:prstGeom prst="roundRect">
            <a:avLst>
              <a:gd name="adj" fmla="val 15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57607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0C5DE"/>
                </a:solidFill>
                <a:latin typeface="Calibri"/>
              </a:defRPr>
            </a:pPr>
            <a:r>
              <a:t>Django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5760720"/>
            <a:ext cx="1097280" cy="347472"/>
          </a:xfrm>
          <a:prstGeom prst="roundRect">
            <a:avLst>
              <a:gd name="adj" fmla="val 15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23160" y="57607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0C5DE"/>
                </a:solidFill>
                <a:latin typeface="Calibri"/>
              </a:defRPr>
            </a:pPr>
            <a:r>
              <a:t>React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0" y="5760720"/>
            <a:ext cx="1371600" cy="347472"/>
          </a:xfrm>
          <a:prstGeom prst="roundRect">
            <a:avLst>
              <a:gd name="adj" fmla="val 15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5760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0C5DE"/>
                </a:solidFill>
                <a:latin typeface="Calibri"/>
              </a:defRPr>
            </a:pPr>
            <a:r>
              <a:t>Deepgram Nova-3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60" y="5760720"/>
            <a:ext cx="1371600" cy="347472"/>
          </a:xfrm>
          <a:prstGeom prst="roundRect">
            <a:avLst>
              <a:gd name="adj" fmla="val 15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5760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0C5DE"/>
                </a:solidFill>
                <a:latin typeface="Calibri"/>
              </a:defRPr>
            </a:pPr>
            <a:r>
              <a:t>GPT-4o-mini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5760720"/>
            <a:ext cx="1371600" cy="347472"/>
          </a:xfrm>
          <a:prstGeom prst="roundRect">
            <a:avLst>
              <a:gd name="adj" fmla="val 15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5760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0C5DE"/>
                </a:solidFill>
                <a:latin typeface="Calibri"/>
              </a:defRPr>
            </a:pPr>
            <a:r>
              <a:t>Recall.ai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5760720"/>
            <a:ext cx="1371600" cy="347472"/>
          </a:xfrm>
          <a:prstGeom prst="roundRect">
            <a:avLst>
              <a:gd name="adj" fmla="val 15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3880" y="57607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0C5DE"/>
                </a:solidFill>
                <a:latin typeface="Calibri"/>
              </a:defRPr>
            </a:pPr>
            <a:r>
              <a:t>WebSockets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C63FF"/>
                </a:solidFill>
                <a:latin typeface="Calibri"/>
              </a:defRPr>
            </a:pPr>
            <a: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F0F2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C0C5DE"/>
                </a:solidFill>
                <a:latin typeface="Calibri"/>
              </a:defRPr>
            </a:pPr>
            <a:r>
              <a:t>▸  Meetings lack real-time accountability tracking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0F2FF"/>
                </a:solidFill>
                <a:latin typeface="Calibri"/>
              </a:defRPr>
            </a:pPr>
          </a:p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C0C5DE"/>
                </a:solidFill>
                <a:latin typeface="Calibri"/>
              </a:defRPr>
            </a:pPr>
            <a:r>
              <a:t>▸  Action items are forgotten — no automatic extraction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0F2FF"/>
                </a:solidFill>
                <a:latin typeface="Calibri"/>
              </a:defRPr>
            </a:pPr>
          </a:p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C0C5DE"/>
                </a:solidFill>
                <a:latin typeface="Calibri"/>
              </a:defRPr>
            </a:pPr>
            <a:r>
              <a:t>▸  Multilingual environments (Urdu + English) break</a:t>
            </a:r>
          </a:p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C0C5DE"/>
                </a:solidFill>
                <a:latin typeface="Calibri"/>
              </a:defRPr>
            </a:pPr>
            <a:r>
              <a:t>   existing transcription tools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0F2FF"/>
                </a:solidFill>
                <a:latin typeface="Calibri"/>
              </a:defRPr>
            </a:pPr>
          </a:p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C0C5DE"/>
                </a:solidFill>
                <a:latin typeface="Calibri"/>
              </a:defRPr>
            </a:pPr>
            <a:r>
              <a:t>▸  No per-speaker performance analytics exist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0F2FF"/>
                </a:solidFill>
                <a:latin typeface="Calibri"/>
              </a:defRPr>
            </a:pPr>
          </a:p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C0C5DE"/>
                </a:solidFill>
                <a:latin typeface="Calibri"/>
              </a:defRPr>
            </a:pPr>
            <a:r>
              <a:t>▸  Manual meeting minutes waste hours of productivity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188720"/>
            <a:ext cx="25400" cy="47548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00C896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F0F2FF"/>
                </a:solidFill>
                <a:latin typeface="Calibri"/>
              </a:defRPr>
            </a:pPr>
            <a:r>
              <a:t>✦  Autonomous bot joins Google Meet / Zoom / Teams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0F2FF"/>
                </a:solidFill>
                <a:latin typeface="Calibri"/>
              </a:defRPr>
            </a:pPr>
          </a:p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F0F2FF"/>
                </a:solidFill>
                <a:latin typeface="Calibri"/>
              </a:defRPr>
            </a:pPr>
            <a:r>
              <a:t>✦  Live transcription with Deepgram Nova-3 streaming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0F2FF"/>
                </a:solidFill>
                <a:latin typeface="Calibri"/>
              </a:defRPr>
            </a:pPr>
          </a:p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F0F2FF"/>
                </a:solidFill>
                <a:latin typeface="Calibri"/>
              </a:defRPr>
            </a:pPr>
            <a:r>
              <a:t>✦  Urdu/Hindi → Roman Urdu transliteration engine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8B92B8"/>
                </a:solidFill>
                <a:latin typeface="Calibri"/>
              </a:defRPr>
            </a:pPr>
            <a:r>
              <a:t>   (rule-based, zero-latency, no API calls)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0F2FF"/>
                </a:solidFill>
                <a:latin typeface="Calibri"/>
              </a:defRPr>
            </a:pPr>
          </a:p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F0F2FF"/>
                </a:solidFill>
                <a:latin typeface="Calibri"/>
              </a:defRPr>
            </a:pPr>
            <a:r>
              <a:t>✦  GPT-4o-mini analyzes speakers every 60 seconds</a:t>
            </a:r>
          </a:p>
          <a:p>
            <a:pPr algn="l">
              <a:lnSpc>
                <a:spcPts val="1690"/>
              </a:lnSpc>
              <a:spcAft>
                <a:spcPts val="400"/>
              </a:spcAft>
              <a:defRPr sz="1300" b="0">
                <a:solidFill>
                  <a:srgbClr val="8B92B8"/>
                </a:solidFill>
                <a:latin typeface="Calibri"/>
              </a:defRPr>
            </a:pPr>
            <a:r>
              <a:t>   (sentiment, performance score 0-100, key points)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0F2FF"/>
                </a:solidFill>
                <a:latin typeface="Calibri"/>
              </a:defRPr>
            </a:pPr>
          </a:p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F0F2FF"/>
                </a:solidFill>
                <a:latin typeface="Calibri"/>
              </a:defRPr>
            </a:pPr>
            <a:r>
              <a:t>✦  Auto-extracts action items → Email + Slack delivery</a:t>
            </a:r>
          </a:p>
          <a:p>
            <a:pPr algn="l">
              <a:lnSpc>
                <a:spcPts val="1040"/>
              </a:lnSpc>
              <a:spcAft>
                <a:spcPts val="400"/>
              </a:spcAft>
              <a:defRPr sz="800" b="0">
                <a:solidFill>
                  <a:srgbClr val="F0F2FF"/>
                </a:solidFill>
                <a:latin typeface="Calibri"/>
              </a:defRPr>
            </a:pPr>
          </a:p>
          <a:p>
            <a:pPr algn="l">
              <a:lnSpc>
                <a:spcPts val="1950"/>
              </a:lnSpc>
              <a:spcAft>
                <a:spcPts val="400"/>
              </a:spcAft>
              <a:defRPr sz="1500" b="0">
                <a:solidFill>
                  <a:srgbClr val="F0F2FF"/>
                </a:solidFill>
                <a:latin typeface="Calibri"/>
              </a:defRPr>
            </a:pPr>
            <a:r>
              <a:t>✦  Gamified team profiles with ranks &amp; leaderboards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C63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743200" cy="731520"/>
          </a:xfrm>
          <a:prstGeom prst="roundRect">
            <a:avLst>
              <a:gd name="adj" fmla="val 6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2FF"/>
                </a:solidFill>
                <a:latin typeface="Calibri"/>
              </a:defRPr>
            </a:pPr>
            <a:r>
              <a:t>Meeting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92B8"/>
                </a:solidFill>
                <a:latin typeface="Calibri"/>
              </a:defRPr>
            </a:pPr>
            <a:r>
              <a:t>Google Meet  ·  Zoom  · 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05570"/>
                </a:solidFill>
                <a:latin typeface="Calibri"/>
              </a:defRPr>
            </a:pPr>
            <a:r>
              <a:t>▼  Audio Stream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2743200" cy="914400"/>
          </a:xfrm>
          <a:prstGeom prst="roundRect">
            <a:avLst>
              <a:gd name="adj" fmla="val 6000"/>
            </a:avLst>
          </a:prstGeom>
          <a:solidFill>
            <a:srgbClr val="1C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C63FF"/>
                </a:solidFill>
                <a:latin typeface="Calibri"/>
              </a:defRPr>
            </a:pPr>
            <a:r>
              <a:t>Recall.ai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39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92B8"/>
                </a:solidFill>
                <a:latin typeface="Calibri"/>
              </a:defRPr>
            </a:pPr>
            <a:r>
              <a:t>Joins as participant · Streams audio</a:t>
            </a:r>
            <a:br/>
            <a:r>
              <a:t>to Deepgram Nova-3 · Records MP4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6974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05570"/>
                </a:solidFill>
                <a:latin typeface="Calibri"/>
              </a:defRPr>
            </a:pPr>
            <a:r>
              <a:t>Webhooks  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2194560"/>
            <a:ext cx="3474720" cy="2560320"/>
          </a:xfrm>
          <a:prstGeom prst="roundRect">
            <a:avLst>
              <a:gd name="adj" fmla="val 4000"/>
            </a:avLst>
          </a:prstGeom>
          <a:solidFill>
            <a:srgbClr val="12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2FF"/>
                </a:solidFill>
                <a:latin typeface="Calibri"/>
              </a:defRPr>
            </a:pPr>
            <a:r>
              <a:t>Django Backend  (Daphne ASGI)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2697480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71576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C63FF"/>
                </a:solidFill>
                <a:latin typeface="Calibri"/>
              </a:defRPr>
            </a:pPr>
            <a:r>
              <a:t>Transliteration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92608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92B8"/>
                </a:solidFill>
                <a:latin typeface="Calibri"/>
              </a:defRPr>
            </a:pPr>
            <a:r>
              <a:t>Urdu/Hindi → Roman Urdu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800600" y="3227832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2461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B800"/>
                </a:solidFill>
                <a:latin typeface="Calibri"/>
              </a:defRPr>
            </a:pPr>
            <a:r>
              <a:t>Celery Workers + Beat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456432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92B8"/>
                </a:solidFill>
                <a:latin typeface="Calibri"/>
              </a:defRPr>
            </a:pPr>
            <a:r>
              <a:t>60s speaker analysis cycle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3758184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3776472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C896"/>
                </a:solidFill>
                <a:latin typeface="Calibri"/>
              </a:defRPr>
            </a:pPr>
            <a:r>
              <a:t>LLM Service (GPT-4o-mini)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98678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92B8"/>
                </a:solidFill>
                <a:latin typeface="Calibri"/>
              </a:defRPr>
            </a:pPr>
            <a:r>
              <a:t>Sentiment · Score · Summary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00600" y="4288536"/>
            <a:ext cx="3017520" cy="457200"/>
          </a:xfrm>
          <a:prstGeom prst="roundRect">
            <a:avLst>
              <a:gd name="adj" fmla="val 8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306824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6B6B"/>
                </a:solidFill>
                <a:latin typeface="Calibri"/>
              </a:defRPr>
            </a:pPr>
            <a:r>
              <a:t>WebSocket Consumer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51713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8B92B8"/>
                </a:solidFill>
                <a:latin typeface="Calibri"/>
              </a:defRPr>
            </a:pPr>
            <a:r>
              <a:t>Real-time push to 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108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05570"/>
                </a:solidFill>
                <a:latin typeface="Calibri"/>
              </a:defRPr>
            </a:pPr>
            <a:r>
              <a:t>▶  WS Push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61120" y="2468880"/>
            <a:ext cx="2743200" cy="1645920"/>
          </a:xfrm>
          <a:prstGeom prst="roundRect">
            <a:avLst>
              <a:gd name="adj" fmla="val 6000"/>
            </a:avLst>
          </a:prstGeom>
          <a:solidFill>
            <a:srgbClr val="1C1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0" y="2514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896"/>
                </a:solidFill>
                <a:latin typeface="Calibri"/>
              </a:defRPr>
            </a:pPr>
            <a:r>
              <a:t>React Frontend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880360"/>
            <a:ext cx="2377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C0C5DE"/>
                </a:solidFill>
                <a:latin typeface="Calibri"/>
              </a:defRPr>
            </a:pPr>
            <a:r>
              <a:t>▸ Live Speaker Dashboard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C0C5DE"/>
                </a:solidFill>
                <a:latin typeface="Calibri"/>
              </a:defRPr>
            </a:pPr>
            <a:r>
              <a:t>▸ Real-time Transcript Feed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C0C5DE"/>
                </a:solidFill>
                <a:latin typeface="Calibri"/>
              </a:defRPr>
            </a:pPr>
            <a:r>
              <a:t>▸ Action Items + Notifications</a:t>
            </a:r>
          </a:p>
          <a:p>
            <a:pPr algn="l">
              <a:lnSpc>
                <a:spcPts val="1539"/>
              </a:lnSpc>
              <a:spcAft>
                <a:spcPts val="400"/>
              </a:spcAft>
              <a:defRPr sz="1100" b="0">
                <a:solidFill>
                  <a:srgbClr val="C0C5DE"/>
                </a:solidFill>
                <a:latin typeface="Calibri"/>
              </a:defRPr>
            </a:pPr>
            <a:r>
              <a:t>▸ Gamified Team Profiles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2920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120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Redis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92B8"/>
                </a:solidFill>
                <a:latin typeface="Calibri"/>
              </a:defRPr>
            </a:pPr>
            <a:r>
              <a:t>Celery Broker</a:t>
            </a:r>
            <a:br/>
            <a:r>
              <a:t>Result Backend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1800" y="502920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71800" y="5120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C63FF"/>
                </a:solidFill>
                <a:latin typeface="Calibri"/>
              </a:defRPr>
            </a:pPr>
            <a:r>
              <a:t>SQLite / MySQL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7180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92B8"/>
                </a:solidFill>
                <a:latin typeface="Calibri"/>
              </a:defRPr>
            </a:pPr>
            <a:r>
              <a:t>Meeting · Speaker</a:t>
            </a:r>
            <a:br/>
            <a:r>
              <a:t>Analysis · Scores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80" y="502920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212080" y="5120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C896"/>
                </a:solidFill>
                <a:latin typeface="Calibri"/>
              </a:defRPr>
            </a:pPr>
            <a:r>
              <a:t>Deepgram Nova-3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8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92B8"/>
                </a:solidFill>
                <a:latin typeface="Calibri"/>
              </a:defRPr>
            </a:pPr>
            <a:r>
              <a:t>Live Streaming STT</a:t>
            </a:r>
            <a:br/>
            <a:r>
              <a:t>language: "multi"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52360" y="502920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52360" y="5120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B800"/>
                </a:solidFill>
                <a:latin typeface="Calibri"/>
              </a:defRPr>
            </a:pPr>
            <a:r>
              <a:t>OpenAI Whisper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5236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92B8"/>
                </a:solidFill>
                <a:latin typeface="Calibri"/>
              </a:defRPr>
            </a:pPr>
            <a:r>
              <a:t>Post-meeting</a:t>
            </a:r>
            <a:br/>
            <a:r>
              <a:t>Fallback STT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92640" y="5029200"/>
            <a:ext cx="2103120" cy="1005840"/>
          </a:xfrm>
          <a:prstGeom prst="roundRect">
            <a:avLst>
              <a:gd name="adj" fmla="val 6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92640" y="5120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6B6B"/>
                </a:solidFill>
                <a:latin typeface="Calibri"/>
              </a:defRPr>
            </a:pPr>
            <a:r>
              <a:t>Email + Slack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53949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8B92B8"/>
                </a:solidFill>
                <a:latin typeface="Calibri"/>
              </a:defRPr>
            </a:pPr>
            <a:r>
              <a:t>Action Item</a:t>
            </a:r>
            <a:br/>
            <a:r>
              <a:t>Notifications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C63FF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1965960"/>
          </a:xfrm>
          <a:prstGeom prst="roundRect">
            <a:avLst>
              <a:gd name="adj" fmla="val 4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21208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0F2FF"/>
                </a:solidFill>
                <a:latin typeface="Calibri"/>
              </a:defRPr>
            </a:pPr>
            <a:r>
              <a:t>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600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0F2FF"/>
                </a:solidFill>
                <a:latin typeface="Calibri"/>
              </a:defRPr>
            </a:pPr>
            <a:r>
              <a:t>Live Transcription + Transliteration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011680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92B8"/>
                </a:solidFill>
                <a:latin typeface="Calibri"/>
              </a:defRPr>
            </a:pPr>
            <a:r>
              <a:t>Deepgram Nova-3 streams multilingual transcription via Recall.ai. Custom rule-based engine converts Urdu (Arabic script) and Hindi (Devanagari) → Roman Urdu in microseconds. English passes through unchanged.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71600"/>
            <a:ext cx="5212080" cy="1965960"/>
          </a:xfrm>
          <a:prstGeom prst="roundRect">
            <a:avLst>
              <a:gd name="adj" fmla="val 4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212080" cy="381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0F2FF"/>
                </a:solidFill>
                <a:latin typeface="Calibri"/>
              </a:defRPr>
            </a:pPr>
            <a:r>
              <a:t>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600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0F2FF"/>
                </a:solidFill>
                <a:latin typeface="Calibri"/>
              </a:defRPr>
            </a:pPr>
            <a:r>
              <a:t>Real-Time Speaker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011680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92B8"/>
                </a:solidFill>
                <a:latin typeface="Calibri"/>
              </a:defRPr>
            </a:pPr>
            <a:r>
              <a:t>Every 60 seconds, Celery flushes each speaker's speech buffer to GPT-4o-mini. Returns: performance score (0-100), sentiment, key points, topic coverage, and a notable quote. Results push instantly via WebSocket.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5212080" cy="1965960"/>
          </a:xfrm>
          <a:prstGeom prst="roundRect">
            <a:avLst>
              <a:gd name="adj" fmla="val 4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31920"/>
            <a:ext cx="5212080" cy="38100"/>
          </a:xfrm>
          <a:prstGeom prst="rect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0F2FF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4160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0F2FF"/>
                </a:solidFill>
                <a:latin typeface="Calibri"/>
              </a:defRPr>
            </a:pPr>
            <a:r>
              <a:t>Post-Meeting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572000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92B8"/>
                </a:solidFill>
                <a:latin typeface="Calibri"/>
              </a:defRPr>
            </a:pPr>
            <a:r>
              <a:t>On meeting end: assembles full transcript, chunks into 60s windows, LLM extracts action items with speaker assignment, generates executive summary + title. Action items auto-routed via Email and Slack to team.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212080" cy="1965960"/>
          </a:xfrm>
          <a:prstGeom prst="roundRect">
            <a:avLst>
              <a:gd name="adj" fmla="val 4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5212080" cy="381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605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0F2FF"/>
                </a:solidFill>
                <a:latin typeface="Calibri"/>
              </a:defRPr>
            </a:pPr>
            <a:r>
              <a:t>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41605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0F2FF"/>
                </a:solidFill>
                <a:latin typeface="Calibri"/>
              </a:defRPr>
            </a:pPr>
            <a:r>
              <a:t>Gamified Team Profiles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572000"/>
            <a:ext cx="41148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8B92B8"/>
                </a:solidFill>
                <a:latin typeface="Calibri"/>
              </a:defRPr>
            </a:pPr>
            <a:r>
              <a:t>Team members get ranked: Bronze → Silver → Gold → Platinum → Diamond. Performance radar charts, sentiment timelines, XP bars, achievements (MVP, Clutch, Legend), and leaderboards with sparkline graphs.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C63FF"/>
                </a:solidFill>
                <a:latin typeface="Calibri"/>
              </a:defRPr>
            </a:pPr>
            <a:r>
              <a:t>MULTILINGUAL NLP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41732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0F2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828800"/>
            <a:ext cx="25400" cy="5943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C63FF"/>
                </a:solidFill>
                <a:latin typeface="Calibri"/>
              </a:defRPr>
            </a:pPr>
            <a:r>
              <a:t>Audio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6459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92B8"/>
                </a:solidFill>
                <a:latin typeface="Calibri"/>
              </a:defRPr>
            </a:pPr>
            <a:r>
              <a:t>Recall.ai bot captures speaker audio from meeting platform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331720"/>
            <a:ext cx="411480" cy="411480"/>
          </a:xfrm>
          <a:prstGeom prst="ellipse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317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0F2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5840" y="2743200"/>
            <a:ext cx="25400" cy="5943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C896"/>
                </a:solidFill>
                <a:latin typeface="Calibri"/>
              </a:defRPr>
            </a:pPr>
            <a:r>
              <a:t>Deepgram Nova-3 STT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560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92B8"/>
                </a:solidFill>
                <a:latin typeface="Calibri"/>
              </a:defRPr>
            </a:pPr>
            <a:r>
              <a:t>Streaming speech-to-text with language: "multi" — detects English, Urdu, Hindi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246120"/>
            <a:ext cx="411480" cy="411480"/>
          </a:xfrm>
          <a:prstGeom prst="ellipse">
            <a:avLst/>
          </a:prstGeom>
          <a:solidFill>
            <a:srgbClr val="FFB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461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0F2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657600"/>
            <a:ext cx="25400" cy="5943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B800"/>
                </a:solidFill>
                <a:latin typeface="Calibri"/>
              </a:defRPr>
            </a:pPr>
            <a:r>
              <a:t>Script 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74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92B8"/>
                </a:solidFill>
                <a:latin typeface="Calibri"/>
              </a:defRPr>
            </a:pPr>
            <a:r>
              <a:t>Regex identifies Arabic (\u0600-\u06FF), Devanagari (\u0900-\u097F), or Latin text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160520"/>
            <a:ext cx="411480" cy="4114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0F2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5840" y="4572000"/>
            <a:ext cx="25400" cy="5943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1148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6B6B"/>
                </a:solidFill>
                <a:latin typeface="Calibri"/>
              </a:defRPr>
            </a:pPr>
            <a:r>
              <a:t>Transliteration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4389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92B8"/>
                </a:solidFill>
                <a:latin typeface="Calibri"/>
              </a:defRPr>
            </a:pPr>
            <a:r>
              <a:t>150+ word maps + character maps convert non-Latin → Roman Urdu. English passes through.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5074920"/>
            <a:ext cx="411480" cy="4114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0749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0F2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C63FF"/>
                </a:solidFill>
                <a:latin typeface="Calibri"/>
              </a:defRPr>
            </a:pPr>
            <a:r>
              <a:t>LLM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92B8"/>
                </a:solidFill>
                <a:latin typeface="Calibri"/>
              </a:defRPr>
            </a:pPr>
            <a:r>
              <a:t>GPT-4o-mini receives Roman Urdu + English. Outputs English-only structured analysis.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1371600"/>
            <a:ext cx="5029200" cy="4572000"/>
          </a:xfrm>
          <a:prstGeom prst="roundRect">
            <a:avLst>
              <a:gd name="adj" fmla="val 4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1508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0F2FF"/>
                </a:solidFill>
                <a:latin typeface="Calibri"/>
              </a:defRPr>
            </a:pPr>
            <a:r>
              <a:t>Transliteration Example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20116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C63FF"/>
                </a:solidFill>
                <a:latin typeface="Calibri"/>
              </a:defRPr>
            </a:pPr>
            <a:r>
              <a:t>INPUT  (Arabic Script — Urdu)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2286000"/>
            <a:ext cx="4389120" cy="457200"/>
          </a:xfrm>
          <a:prstGeom prst="roundRect">
            <a:avLst>
              <a:gd name="adj" fmla="val 6000"/>
            </a:avLst>
          </a:prstGeom>
          <a:solidFill>
            <a:srgbClr val="0B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23317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0F2FF"/>
                </a:solidFill>
                <a:latin typeface="Calibri"/>
              </a:defRPr>
            </a:pPr>
            <a:r>
              <a:t>میں لیپ ٹاپ استعمال کر رہا ہوں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3920" y="2788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6C63FF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063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C896"/>
                </a:solidFill>
                <a:latin typeface="Calibri"/>
              </a:defRPr>
            </a:pPr>
            <a:r>
              <a:t>OUTPUT  (Roman Urdu)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3337560"/>
            <a:ext cx="4389120" cy="457200"/>
          </a:xfrm>
          <a:prstGeom prst="roundRect">
            <a:avLst>
              <a:gd name="adj" fmla="val 6000"/>
            </a:avLst>
          </a:prstGeom>
          <a:solidFill>
            <a:srgbClr val="0B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38328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C896"/>
                </a:solidFill>
                <a:latin typeface="Calibri"/>
              </a:defRPr>
            </a:pPr>
            <a:r>
              <a:t>mein laptop istemaal kar raha hun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02336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B800"/>
                </a:solidFill>
                <a:latin typeface="Calibri"/>
              </a:defRPr>
            </a:pPr>
            <a:r>
              <a:t>INPUT  (Devanagari — Hindi misidentified)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4297680"/>
            <a:ext cx="4389120" cy="457200"/>
          </a:xfrm>
          <a:prstGeom prst="roundRect">
            <a:avLst>
              <a:gd name="adj" fmla="val 6000"/>
            </a:avLst>
          </a:prstGeom>
          <a:solidFill>
            <a:srgbClr val="0B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43434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0F2FF"/>
                </a:solidFill>
                <a:latin typeface="Calibri"/>
              </a:defRPr>
            </a:pPr>
            <a:r>
              <a:t>मैं लैपटॉप इस्तेमाल कर रहा हूं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0392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FB80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50749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C896"/>
                </a:solidFill>
                <a:latin typeface="Calibri"/>
              </a:defRPr>
            </a:pPr>
            <a:r>
              <a:t>OUTPUT  (Same Roman Urdu)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5349240"/>
            <a:ext cx="4389120" cy="457200"/>
          </a:xfrm>
          <a:prstGeom prst="roundRect">
            <a:avLst>
              <a:gd name="adj" fmla="val 6000"/>
            </a:avLst>
          </a:prstGeom>
          <a:solidFill>
            <a:srgbClr val="0B0D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53949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00C896"/>
                </a:solidFill>
                <a:latin typeface="Calibri"/>
              </a:defRPr>
            </a:pPr>
            <a:r>
              <a:t>mein laptop istemaal kar raha hun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492240"/>
            <a:ext cx="12191695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01168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0"/>
              </a:spcAft>
              <a:defRPr sz="5200" b="1">
                <a:solidFill>
                  <a:srgbClr val="F0F2FF"/>
                </a:solidFill>
                <a:latin typeface="Calibri"/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6C63FF"/>
                </a:solidFill>
                <a:latin typeface="Calibri"/>
              </a:defRPr>
            </a:pPr>
            <a:r>
              <a:t>Let's see MeetingIntel in action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49527" y="402336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9527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0F2FF"/>
                </a:solidFill>
                <a:latin typeface="Calibri"/>
              </a:defRPr>
            </a:pPr>
            <a:r>
              <a:t>1.  Create Meeting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9527" y="4434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92B8"/>
                </a:solidFill>
                <a:latin typeface="Calibri"/>
              </a:defRPr>
            </a:pPr>
            <a:r>
              <a:t>Paste Google Meet link + set topics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18407" y="402336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18407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0F2FF"/>
                </a:solidFill>
                <a:latin typeface="Calibri"/>
              </a:defRPr>
            </a:pPr>
            <a:r>
              <a:t>2.  Deploy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18407" y="4434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92B8"/>
                </a:solidFill>
                <a:latin typeface="Calibri"/>
              </a:defRPr>
            </a:pPr>
            <a:r>
              <a:t>Recall.ai bot joins the call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7287" y="402336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87287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0F2FF"/>
                </a:solidFill>
                <a:latin typeface="Calibri"/>
              </a:defRPr>
            </a:pPr>
            <a:r>
              <a:t>3.  Live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87287" y="4434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92B8"/>
                </a:solidFill>
                <a:latin typeface="Calibri"/>
              </a:defRPr>
            </a:pPr>
            <a:r>
              <a:t>Real-time transcript + speaker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56167" y="4023360"/>
            <a:ext cx="2286000" cy="1005840"/>
          </a:xfrm>
          <a:prstGeom prst="roundRect">
            <a:avLst>
              <a:gd name="adj" fmla="val 6000"/>
            </a:avLst>
          </a:prstGeom>
          <a:solidFill>
            <a:srgbClr val="1417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56167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0F2FF"/>
                </a:solidFill>
                <a:latin typeface="Calibri"/>
              </a:defRPr>
            </a:pPr>
            <a:r>
              <a:t>4.  Post-Meeting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6167" y="44348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8B92B8"/>
                </a:solidFill>
                <a:latin typeface="Calibri"/>
              </a:defRPr>
            </a:pPr>
            <a:r>
              <a:t>Summary, action items, notifications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557784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05570"/>
                </a:solidFill>
                <a:latin typeface="Calibri"/>
              </a:defRPr>
            </a:pPr>
            <a: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